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 b="1">
                <a:solidFill>
                  <a:srgbClr val="18B3A2"/>
                </a:solidFill>
                <a:latin typeface="Arial"/>
              </a:defRPr>
            </a:pPr>
            <a:r>
              <a:t>Quiz 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Arial"/>
              </a:defRPr>
            </a:pPr>
            <a:r>
              <a:t>Application interactive de quiz en Symfony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2468880"/>
            <a:ext cx="1463040" cy="254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Arial"/>
              </a:defRPr>
            </a:pPr>
            <a:r>
              <a:t>Cours Symfony — UBO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58A6FF"/>
                </a:solidFill>
                <a:latin typeface="Arial"/>
              </a:defRPr>
            </a:pPr>
            <a:r>
              <a:t>PHP 8 • Symfony 8 • Twig • Stimulus • Tailwind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840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600" b="0">
                <a:solidFill>
                  <a:srgbClr val="E6EDF3"/>
                </a:solidFill>
                <a:latin typeface="Arial"/>
              </a:defRPr>
            </a:pPr>
            <a:r>
              <a:t>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 b="1">
                <a:solidFill>
                  <a:srgbClr val="18B3A2"/>
                </a:solidFill>
                <a:latin typeface="Arial"/>
              </a:defRPr>
            </a:pPr>
            <a:r>
              <a:t>Architecture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931920" cy="365760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8100" cy="347472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05840"/>
            <a:ext cx="37033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18B3A2"/>
                </a:solidFill>
                <a:latin typeface="Arial"/>
              </a:defRPr>
            </a:pPr>
            <a:r>
              <a:t>Structure des fichiers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0883E"/>
                </a:solidFill>
                <a:latin typeface="Courier New"/>
              </a:defRPr>
            </a:pPr>
            <a:r>
              <a:t>data/quizzes/</a:t>
            </a:r>
          </a:p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   6 fichiers YAML (themes de quiz)</a:t>
            </a:r>
          </a:p>
          <a:p>
            <a:pPr algn="l">
              <a:defRPr sz="600" b="0">
                <a:solidFill>
                  <a:srgbClr val="E6EDF3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000" b="0">
                <a:solidFill>
                  <a:srgbClr val="3FB950"/>
                </a:solidFill>
                <a:latin typeface="Courier New"/>
              </a:defRPr>
            </a:pPr>
            <a:r>
              <a:t>src/Service/QuizLoader.php</a:t>
            </a:r>
          </a:p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   Charge les YAML, selection aleatoire</a:t>
            </a:r>
          </a:p>
          <a:p>
            <a:pPr algn="l">
              <a:defRPr sz="600" b="0">
                <a:solidFill>
                  <a:srgbClr val="E6EDF3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000" b="0">
                <a:solidFill>
                  <a:srgbClr val="58A6FF"/>
                </a:solidFill>
                <a:latin typeface="Courier New"/>
              </a:defRPr>
            </a:pPr>
            <a:r>
              <a:t>src/Controller/QuizController.php</a:t>
            </a:r>
          </a:p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   5 routes, gestion session</a:t>
            </a:r>
          </a:p>
          <a:p>
            <a:pPr algn="l">
              <a:defRPr sz="600" b="0">
                <a:solidFill>
                  <a:srgbClr val="E6EDF3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000" b="0">
                <a:solidFill>
                  <a:srgbClr val="A371F7"/>
                </a:solidFill>
                <a:latin typeface="Courier New"/>
              </a:defRPr>
            </a:pPr>
            <a:r>
              <a:t>templates/quiz/</a:t>
            </a:r>
          </a:p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   home, play, score (heritage Twig)</a:t>
            </a:r>
          </a:p>
          <a:p>
            <a:pPr algn="l">
              <a:defRPr sz="600" b="0">
                <a:solidFill>
                  <a:srgbClr val="E6EDF3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000" b="0">
                <a:solidFill>
                  <a:srgbClr val="FF7B72"/>
                </a:solidFill>
                <a:latin typeface="Courier New"/>
              </a:defRPr>
            </a:pPr>
            <a:r>
              <a:t>assets/controllers/</a:t>
            </a:r>
          </a:p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   timer + quiz (Stimulus)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06240" cy="365760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005840"/>
            <a:ext cx="38100" cy="3474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005840"/>
            <a:ext cx="39776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200" b="1">
                <a:solidFill>
                  <a:srgbClr val="58A6FF"/>
                </a:solidFill>
                <a:latin typeface="Arial"/>
              </a:defRPr>
            </a:pPr>
            <a:r>
              <a:t>Concepts Symfony demontres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E6EDF3"/>
                </a:solidFill>
                <a:latin typeface="Arial"/>
              </a:defRPr>
            </a:pPr>
            <a:r>
              <a:t>Controllers &amp; Routing</a:t>
            </a:r>
          </a:p>
          <a:p>
            <a:pPr algn="l">
              <a:spcAft>
                <a:spcPts val="8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Attributs #[Route], methodes d'action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E6EDF3"/>
                </a:solidFill>
                <a:latin typeface="Arial"/>
              </a:defRPr>
            </a:pPr>
            <a:r>
              <a:t>Services &amp; Injection de dependances</a:t>
            </a:r>
          </a:p>
          <a:p>
            <a:pPr algn="l">
              <a:spcAft>
                <a:spcPts val="8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QuizLoader configure via services.yaml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E6EDF3"/>
                </a:solidFill>
                <a:latin typeface="Arial"/>
              </a:defRPr>
            </a:pPr>
            <a:r>
              <a:t>Twig (heritage, boucles, conditions)</a:t>
            </a:r>
          </a:p>
          <a:p>
            <a:pPr algn="l">
              <a:spcAft>
                <a:spcPts val="8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base.html.twig + blocks enfants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E6EDF3"/>
                </a:solidFill>
                <a:latin typeface="Arial"/>
              </a:defRPr>
            </a:pPr>
            <a:r>
              <a:t>Session HTTP</a:t>
            </a:r>
          </a:p>
          <a:p>
            <a:pPr algn="l">
              <a:spcAft>
                <a:spcPts val="8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Etat du quiz stocke en session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E6EDF3"/>
                </a:solidFill>
                <a:latin typeface="Arial"/>
              </a:defRPr>
            </a:pPr>
            <a:r>
              <a:t>AssetMapper &amp; Stimulus</a:t>
            </a:r>
          </a:p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Timer, interactions JS sans build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 b="1">
                <a:solidFill>
                  <a:srgbClr val="18B3A2"/>
                </a:solidFill>
                <a:latin typeface="Arial"/>
              </a:defRPr>
            </a:pPr>
            <a:r>
              <a:t>Le Service QuizLoader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Arial"/>
              </a:defRPr>
            </a:pPr>
            <a:r>
              <a:t>Injection de dependances + Parametres YAML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206240" cy="164592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8B949E"/>
                </a:solidFill>
                <a:latin typeface="Arial"/>
              </a:defRPr>
            </a:pPr>
            <a:r>
              <a:t>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40233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# config/services.yaml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parameters: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app.quiz_directory: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    '%kernel.project_dir%/data/quizzes'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App\Service\QuizLoader: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arguments: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    $quizDirectory: '%app.quiz_directory%'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8B949E"/>
                </a:solidFill>
                <a:latin typeface="Arial"/>
              </a:defRPr>
            </a:pPr>
            <a:r>
              <a:t>SERVICE 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38404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class QuizLoader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{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public function __construct(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    private string $quizDirectory,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) {}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public function getThemes(): array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public function getQuiz(string $slug): ?array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public function getRandomQuestions(): ?array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4206240" cy="182880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38100" cy="16459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017520"/>
            <a:ext cx="397763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0883E"/>
                </a:solidFill>
                <a:latin typeface="Arial"/>
              </a:defRPr>
            </a:pPr>
            <a:r>
              <a:t>Format des donnees YAML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6 themes : PHP, Symfony, JS, HTML/CSS, SQL, Git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12-15 questions par theme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10 questions aleatoires par partie</a:t>
            </a:r>
          </a:p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Chaque question : texte, 4 options,</a:t>
            </a:r>
          </a:p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   index reponse, explication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926080"/>
            <a:ext cx="4023360" cy="182880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3017520"/>
            <a:ext cx="38100" cy="1645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3017520"/>
            <a:ext cx="3794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FB950"/>
                </a:solidFill>
                <a:latin typeface="Arial"/>
              </a:defRPr>
            </a:pPr>
            <a:r>
              <a:t>Points cles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Le service est autowire par Symfony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Le parametre est injecte via services.yaml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Pas de couplage avec le controller</a:t>
            </a:r>
          </a:p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Facile a tester et a remplacer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 b="1">
                <a:solidFill>
                  <a:srgbClr val="18B3A2"/>
                </a:solidFill>
                <a:latin typeface="Arial"/>
              </a:defRPr>
            </a:pPr>
            <a:r>
              <a:t>Le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Arial"/>
              </a:defRPr>
            </a:pPr>
            <a:r>
              <a:t>Routing par attributs + Gestion de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023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023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ourier New"/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1023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8A6FF"/>
                </a:solidFill>
                <a:latin typeface="Courier New"/>
              </a:defRPr>
            </a:pPr>
            <a:r>
              <a:t>quiz_home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1023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Page d'accueil avec cartes themes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8412480" cy="36576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13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138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ourier New"/>
              </a:defRPr>
            </a:pPr>
            <a:r>
              <a:t>/quiz/{slug}/start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51384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8A6FF"/>
                </a:solidFill>
                <a:latin typeface="Courier New"/>
              </a:defRPr>
            </a:pPr>
            <a:r>
              <a:t>quiz_start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5138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Init quiz en session, redirect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74520"/>
            <a:ext cx="8412480" cy="36576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25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9253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ourier New"/>
              </a:defRPr>
            </a:pPr>
            <a:r>
              <a:t>/quiz/{slug}/play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92532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8A6FF"/>
                </a:solidFill>
                <a:latin typeface="Courier New"/>
              </a:defRPr>
            </a:pPr>
            <a:r>
              <a:t>quiz_play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92532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Affiche la question courante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86000"/>
            <a:ext cx="8412480" cy="36576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336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0883E"/>
                </a:solidFill>
                <a:latin typeface="Arial"/>
              </a:defRPr>
            </a:pPr>
            <a: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3368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ourier New"/>
              </a:defRPr>
            </a:pPr>
            <a:r>
              <a:t>/quiz/{slug}/answer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36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8A6FF"/>
                </a:solidFill>
                <a:latin typeface="Courier New"/>
              </a:defRPr>
            </a:pPr>
            <a:r>
              <a:t>quiz_answer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3368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Enregistre reponse, avance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97480"/>
            <a:ext cx="8412480" cy="36576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74828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  <a:latin typeface="Arial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7482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ourier New"/>
              </a:defRPr>
            </a:pPr>
            <a:r>
              <a:t>/quiz/{slug}/score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7482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8A6FF"/>
                </a:solidFill>
                <a:latin typeface="Courier New"/>
              </a:defRPr>
            </a:pPr>
            <a:r>
              <a:t>quiz_score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7482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Affiche score + resume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8B949E"/>
                </a:solidFill>
                <a:latin typeface="Arial"/>
              </a:defRPr>
            </a:pPr>
            <a:r>
              <a:t>EXEMPLE : ACTION PLAY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#[Route("/quiz/{slug}/play", name: "quiz_play")]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public function play(Request $request, string $slug): Response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{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$session = $request-&gt;getSession();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$state = $session-&gt;get('quiz_' . $slug);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$question = $state['questions'][$state['current']];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return $this-&gt;render('quiz/play.html.twig', [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    'question' =&gt; $question,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]);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 b="1">
                <a:solidFill>
                  <a:srgbClr val="18B3A2"/>
                </a:solidFill>
                <a:latin typeface="Arial"/>
              </a:defRPr>
            </a:pPr>
            <a:r>
              <a:t>Les Templates Twig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Arial"/>
              </a:defRPr>
            </a:pPr>
            <a:r>
              <a:t>Heritage de templates, boucles,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206240" cy="182880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8B949E"/>
                </a:solidFill>
                <a:latin typeface="Arial"/>
              </a:defRPr>
            </a:pPr>
            <a:r>
              <a:t>TEMPLATE PARENT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40233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{# base.html.twig #}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&lt;!DOCTYPE html&gt;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&lt;html lang="fr"&gt;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&lt;head&gt;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{% block stylesheets %}{% endblock %}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{% block javascripts %}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{{ importmap('app') }}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{% endblock %}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&lt;/head&gt;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&lt;body&gt;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{% block body %}{% endblock %}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&lt;/body&gt;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4023360" cy="182880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8B949E"/>
                </a:solidFill>
                <a:latin typeface="Arial"/>
              </a:defRPr>
            </a:pPr>
            <a:r>
              <a:t>TEMPLATE ENFANT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38404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{# quiz/home.html.twig #}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{% extends 'base.html.twig' %}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{% block body %}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{% for theme in themes %}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&lt;a href="{{ path('quiz_start'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    {slug: theme.slug}) }}"&gt;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  {{ theme.icon }} {{ theme.name }}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&lt;/a&gt;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{% endfor %}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{% endblock %}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2651760" cy="155448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38100" cy="13716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24612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8B3A2"/>
                </a:solidFill>
                <a:latin typeface="Courier New"/>
              </a:defRPr>
            </a:pPr>
            <a:r>
              <a:t>home.html.twig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E6EDF3"/>
                </a:solidFill>
                <a:latin typeface="Arial"/>
              </a:defRPr>
            </a:pPr>
            <a:r>
              <a:t>Page d'accueil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  Cartes par theme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  Boucle {% for %}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  Liens avec path()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200400"/>
            <a:ext cx="2651760" cy="155448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3291840"/>
            <a:ext cx="38100" cy="13716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324612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58A6FF"/>
                </a:solidFill>
                <a:latin typeface="Courier New"/>
              </a:defRPr>
            </a:pPr>
            <a:r>
              <a:t>play.html.twig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E6EDF3"/>
                </a:solidFill>
                <a:latin typeface="Arial"/>
              </a:defRPr>
            </a:pPr>
            <a:r>
              <a:t>Page de jeu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  Question + options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  Timer Stimulus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  Formulaire POST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2651760" cy="155448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291840"/>
            <a:ext cx="38100" cy="13716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24612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0883E"/>
                </a:solidFill>
                <a:latin typeface="Courier New"/>
              </a:defRPr>
            </a:pPr>
            <a:r>
              <a:t>score.html.twig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E6EDF3"/>
                </a:solidFill>
                <a:latin typeface="Arial"/>
              </a:defRPr>
            </a:pPr>
            <a:r>
              <a:t>Page de score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  Score + pourcentage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  Conditions {% if %}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49E"/>
                </a:solidFill>
                <a:latin typeface="Arial"/>
              </a:defRPr>
            </a:pPr>
            <a:r>
              <a:t>  Detail des reponses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 b="1">
                <a:solidFill>
                  <a:srgbClr val="18B3A2"/>
                </a:solidFill>
                <a:latin typeface="Arial"/>
              </a:defRPr>
            </a:pPr>
            <a:r>
              <a:t>Stimulus — Interactivite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Arial"/>
              </a:defRPr>
            </a:pPr>
            <a:r>
              <a:t>Timer, feedback visuel, auto-submit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206240" cy="137160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8100" cy="118872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9776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F7B72"/>
                </a:solidFill>
                <a:latin typeface="Courier New"/>
              </a:defRPr>
            </a:pPr>
            <a:r>
              <a:t>timer_controller.js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Compte a rebours de 30 secondes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Barre de progression animee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Changement de couleur : vert &gt; jaune &gt; rouge</a:t>
            </a:r>
          </a:p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Pulse a 5 secondes + dispatch 'timeout'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4023360" cy="137160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8100" cy="1188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188720"/>
            <a:ext cx="3794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8A6FF"/>
                </a:solidFill>
                <a:latin typeface="Courier New"/>
              </a:defRPr>
            </a:pPr>
            <a:r>
              <a:t>quiz_controller.js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Selection de reponse au click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Feedback visuel (vert/rouge)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6EDF3"/>
                </a:solidFill>
                <a:latin typeface="Arial"/>
              </a:defRPr>
            </a:pPr>
            <a:r>
              <a:t>Auto-submit apres 1.5s de feedback</a:t>
            </a:r>
          </a:p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Gestion du timeout (reponse = -1)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8412480" cy="210312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8B949E"/>
                </a:solidFill>
                <a:latin typeface="Arial"/>
              </a:defRPr>
            </a:pPr>
            <a:r>
              <a:t>INTEGRATION HTML (DATA ATTRIBUTES)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822960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&lt;!-- Integration dans le template Twig --&gt;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&lt;div data-controller="timer quiz"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 data-action="timer:timeout-&gt;quiz#handleTimeout"&gt;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&lt;div data-timer-target="bar"&gt;&lt;/div&gt;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&lt;span data-timer-target="seconds"&gt;30&lt;/span&gt;s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&lt;button data-quiz-target="option"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      data-action="click-&gt;quiz#selectAnswer"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      data-index="0" data-correct="2"&gt;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  Option A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  &lt;/button&gt;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</a:defRPr>
            </a:pPr>
            <a:r>
              <a:t>&lt;/div&gt;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 b="1">
                <a:solidFill>
                  <a:srgbClr val="18B3A2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1463040" cy="254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58A6FF"/>
                </a:solidFill>
                <a:latin typeface="Courier New"/>
              </a:defRPr>
            </a:pPr>
            <a:r>
              <a:t>http://localhost:8000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18B3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E6EDF3"/>
                </a:solidFill>
                <a:latin typeface="Arial"/>
              </a:defRPr>
            </a:pPr>
            <a:r>
              <a:t>Choisir un 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Arial"/>
              </a:defRPr>
            </a:pPr>
            <a:r>
              <a:t>6 quiz disponibles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18B3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66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E6EDF3"/>
                </a:solidFill>
                <a:latin typeface="Arial"/>
              </a:defRPr>
            </a:pPr>
            <a:r>
              <a:t>Repondre aux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Arial"/>
              </a:defRPr>
            </a:pPr>
            <a:r>
              <a:t>Timer 30s +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18B3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E6EDF3"/>
                </a:solidFill>
                <a:latin typeface="Arial"/>
              </a:defRPr>
            </a:pPr>
            <a:r>
              <a:t>Voir le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Arial"/>
              </a:defRPr>
            </a:pPr>
            <a:r>
              <a:t>Detail + rejouer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8B3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 b="1">
                <a:solidFill>
                  <a:srgbClr val="18B3A2"/>
                </a:solidFill>
                <a:latin typeface="Arial"/>
              </a:defRPr>
            </a:pPr>
            <a:r>
              <a:t>Exercices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Arial"/>
              </a:defRPr>
            </a:pPr>
            <a:r>
              <a:t>Idees d'extensions pour les etudiants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8100" cy="822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70432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3FB950"/>
                </a:solidFill>
                <a:latin typeface="Arial"/>
              </a:defRPr>
            </a:pPr>
            <a:r>
              <a:t>Facile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6EDF3"/>
                </a:solidFill>
                <a:latin typeface="Arial"/>
              </a:defRPr>
            </a:pPr>
            <a:r>
              <a:t>Ajouter un nouveau theme de quiz</a:t>
            </a:r>
          </a:p>
          <a:p>
            <a:pPr algn="l">
              <a:defRPr sz="1000" b="0">
                <a:solidFill>
                  <a:srgbClr val="8B949E"/>
                </a:solidFill>
                <a:latin typeface="Arial"/>
              </a:defRPr>
            </a:pPr>
            <a:r>
              <a:t>Creer un fichier YAML dans data/quizzes/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8100" cy="822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170432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3FB950"/>
                </a:solidFill>
                <a:latin typeface="Arial"/>
              </a:defRPr>
            </a:pPr>
            <a:r>
              <a:t>Facile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6EDF3"/>
                </a:solidFill>
                <a:latin typeface="Arial"/>
              </a:defRPr>
            </a:pPr>
            <a:r>
              <a:t>Personnaliser le nombre de questions</a:t>
            </a:r>
          </a:p>
          <a:p>
            <a:pPr algn="l">
              <a:defRPr sz="1000" b="0">
                <a:solidFill>
                  <a:srgbClr val="8B949E"/>
                </a:solidFill>
                <a:latin typeface="Arial"/>
              </a:defRPr>
            </a:pPr>
            <a:r>
              <a:t>Modifier le parametre dans services.yaml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4114800" cy="100584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38100" cy="8229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359152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58A6FF"/>
                </a:solidFill>
                <a:latin typeface="Arial"/>
              </a:defRPr>
            </a:pPr>
            <a:r>
              <a:t>Moyen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6EDF3"/>
                </a:solidFill>
                <a:latin typeface="Arial"/>
              </a:defRPr>
            </a:pPr>
            <a:r>
              <a:t>Ajouter une page de classement (leaderboard)</a:t>
            </a:r>
          </a:p>
          <a:p>
            <a:pPr algn="l">
              <a:defRPr sz="1000" b="0">
                <a:solidFill>
                  <a:srgbClr val="8B949E"/>
                </a:solidFill>
                <a:latin typeface="Arial"/>
              </a:defRPr>
            </a:pPr>
            <a:r>
              <a:t>Stocker les scores en session ou en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286000"/>
            <a:ext cx="4114800" cy="100584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377440"/>
            <a:ext cx="38100" cy="8229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2359152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58A6FF"/>
                </a:solidFill>
                <a:latin typeface="Arial"/>
              </a:defRPr>
            </a:pPr>
            <a:r>
              <a:t>Moyen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6EDF3"/>
                </a:solidFill>
                <a:latin typeface="Arial"/>
              </a:defRPr>
            </a:pPr>
            <a:r>
              <a:t>Ajouter un mode revision (sans timer)</a:t>
            </a:r>
          </a:p>
          <a:p>
            <a:pPr algn="l">
              <a:defRPr sz="1000" b="0">
                <a:solidFill>
                  <a:srgbClr val="8B949E"/>
                </a:solidFill>
                <a:latin typeface="Arial"/>
              </a:defRPr>
            </a:pPr>
            <a:r>
              <a:t>Nouveau parametre de route + condition dans le template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8100" cy="8229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547872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F0883E"/>
                </a:solidFill>
                <a:latin typeface="Arial"/>
              </a:defRPr>
            </a:pPr>
            <a:r>
              <a:t>Avance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6EDF3"/>
                </a:solidFill>
                <a:latin typeface="Arial"/>
              </a:defRPr>
            </a:pPr>
            <a:r>
              <a:t>Persister les scores avec Doctrine</a:t>
            </a:r>
          </a:p>
          <a:p>
            <a:pPr algn="l">
              <a:defRPr sz="1000" b="0">
                <a:solidFill>
                  <a:srgbClr val="8B949E"/>
                </a:solidFill>
                <a:latin typeface="Arial"/>
              </a:defRPr>
            </a:pPr>
            <a:r>
              <a:t>Entite Score, repository, formulaire pseudo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1C2128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566160"/>
            <a:ext cx="38100" cy="82296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3547872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FF7B72"/>
                </a:solidFill>
                <a:latin typeface="Arial"/>
              </a:defRPr>
            </a:pPr>
            <a:r>
              <a:t>Avance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E6EDF3"/>
                </a:solidFill>
                <a:latin typeface="Arial"/>
              </a:defRPr>
            </a:pPr>
            <a:r>
              <a:t>Ajouter une API REST pour les quiz</a:t>
            </a:r>
          </a:p>
          <a:p>
            <a:pPr algn="l">
              <a:defRPr sz="1000" b="0">
                <a:solidFill>
                  <a:srgbClr val="8B949E"/>
                </a:solidFill>
                <a:latin typeface="Arial"/>
              </a:defRPr>
            </a:pPr>
            <a:r>
              <a:t>Nouveau controller JSON, serialisation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