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128016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Symfony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4560"/>
                </a:solidFill>
              </a:rPr>
              <a:t>Créer sa première page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Controller · Routes · Templates Twig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DEUST · Développement web · Janvier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Objectifs du cours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Ce que vous saurez faire à la fin de cette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Comprendre le MVC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</a:rPr>
              <a:t>Maîtriser le flux Request → Controller → Response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Créer des routes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Définir des URLs avec attributs PHP et paramètres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Utiliser Twig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Créer des templates avec héritage et variables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4805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Prérequis : avoir un projet Symfony installé (symfony new projet --webapp)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Rappel : Le pattern MVC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Utilisateur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Requête HTTP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03120" y="10972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188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18288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</a:rPr>
              <a:t>Logique applicative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0" y="10972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188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828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Template Twig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0" y="10972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188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Réponse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1828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HTML rendu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468880"/>
            <a:ext cx="73152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468880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Données et logique métier. Entités Doctrine, Services.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200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</a:rPr>
              <a:t>Non couvert dans ce 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2468880"/>
            <a:ext cx="73152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2468880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Reçoit la requête, orchestre, retourne une réponse.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200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460"/>
                </a:solidFill>
              </a:rPr>
              <a:t>src/Controller/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2468880"/>
            <a:ext cx="73152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0" y="2468880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View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Affichage HTML via Twig. Layouts et composants.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200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templates/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D3D5C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PARTIE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Les Controllers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Le chef d'orchestre de votre application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Rôle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Création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Méthodes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Qu'est-ce qu'un Controller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Une classe PHP qui gère les requêtes et génère les réponses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73152" cy="1280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Responsabilités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Recevoir la requête HTTP (GET, POST...)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Traiter les données entrantes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Appeler les services métier si besoin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Retourner une Response (HTML, JSON...)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73152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06040"/>
            <a:ext cx="3749040" cy="1005840"/>
          </a:xfrm>
          <a:prstGeom prst="roundRect">
            <a:avLst>
              <a:gd name="adj" fmla="val 4545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Bonnes pratiques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Controller = léger (thin controller)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Logique métier dans les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Une action = une responsabilité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188720"/>
            <a:ext cx="4297680" cy="2423160"/>
          </a:xfrm>
          <a:prstGeom prst="roundRect">
            <a:avLst>
              <a:gd name="adj" fmla="val 3019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280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src/Controller/HomeController.php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App\Controller;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Symfony\Bundle\...\AbstractController;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Symfony\Component\HttpFoundation\Response;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HomeController extends AbstractController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index():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$this-&gt;render('home/index.html.twig');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370332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AbstractController fournit des méthodes utilitaires : render(), redirectToRoute(), json()...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Créer un Controller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Avec le MakerBundle de Symfony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Terminal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symfony console make:controller HomeController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14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Fichiers générés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src/Controller/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HomeController.php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templates/home/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index.html.twig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73152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38404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80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Convention de nommage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Suffixe Controller : HomeController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PascalCase pour les classes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camelCase pour les méthodes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73152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377440"/>
            <a:ext cx="38404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Ce que fait make:controller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7432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Crée la classe avec AbstractController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Ajoute une action index() avec route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• Génère le template Twig correspondant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Tip: symfony console list make pour voir tous les générateurs disponibles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Méthodes utiles d'AbstractController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73152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render()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Rend un template Twig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$this-&gt;render('page.twig', ['data' =&gt; $val]);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73152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87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redirectToRoute()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Redirige vers une route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$this-&gt;redirectToRoute('app_home');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73152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1168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848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json()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304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Retourne du JSON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14600"/>
            <a:ext cx="3657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$this-&gt;json(['status' =&gt; 'ok']);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011680"/>
            <a:ext cx="73152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01168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0848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addFlash()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304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Message flash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3657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$this-&gt;addFlash('success', 'Bien enregistré !');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73152" cy="914400"/>
          </a:xfrm>
          <a:prstGeom prst="rect">
            <a:avLst/>
          </a:prstGeom>
          <a:solidFill>
            <a:srgbClr val="82AA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10896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</a:rPr>
              <a:t>generateUrl()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4015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Génère une URL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$url = $this-&gt;generateUrl('app_show', ['id'=&gt;1]);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73152" cy="914400"/>
          </a:xfrm>
          <a:prstGeom prst="rect">
            <a:avLst/>
          </a:prstGeom>
          <a:solidFill>
            <a:srgbClr val="C792E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10896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EA"/>
                </a:solidFill>
              </a:rPr>
              <a:t>getParameter()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4015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Paramètre config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611880"/>
            <a:ext cx="3657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 = $this-&gt;getParameter('app.setting');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D3D5C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PARTIE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Les Routes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Associer des URLs à vos actions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3611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Attributs PHP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023360" y="3611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Paramètres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60720" y="3611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Méthodes HTTP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Définir une route avec #[Route]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Les attributs PHP 8 remplacent les annotations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src/Controller/HomeController.php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4805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Symfony\Component\Routing\Attribute\Route;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HomeController extends AbstractController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#[Route('/', name: 'app_home')]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index():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$this-&gt;render('home/index.html.twig');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#[Route('/about', name: 'app_about')]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about():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$this-&gt;render('home/about.html.twig');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0" y="1097280"/>
            <a:ext cx="73152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Shape 6"/>
          <p:cNvSpPr/>
          <p:nvPr/>
        </p:nvSpPr>
        <p:spPr>
          <a:xfrm>
            <a:off x="5394960" y="1097280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5532120" y="11887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L'URL (path)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1417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Chemin accessible dans le navigateur : / ou /about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2011680"/>
            <a:ext cx="73152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2011680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21031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Le nom (name)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Identifiant unique pour générer l'URL. Convention : app_nomaction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3291840" cy="822960"/>
          </a:xfrm>
          <a:prstGeom prst="roundRect">
            <a:avLst>
              <a:gd name="adj" fmla="val 5556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0175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Pourquoi nommer les routes 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</a:rPr>
              <a:t>• Changer l'URL sans modifier le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</a:rPr>
              <a:t>• Générer des liens : path('app_home')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</a:rPr>
              <a:t>• Redirections faciles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Routes avec paramètres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Capturer des valeurs dynamiques dans l'URL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Paramètre simple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#[Route('/article/{slug}')]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show(string $slug)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/article/mon-super-article → $slug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Avec valeur par défaut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#[Route('/page/{page}')]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list(int $page = 1)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/page → $page = 1 | /page/3 → $page =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50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Contrainte avec requirements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#[Route('/user/{id}',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requirements: ['id' =&gt; '\d+'])]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\d+ = chiffres seulement. /user/abc → 404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450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Plusieurs paramètres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#[Route('/{category}/{slug}')]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show($category, $slug)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246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/tech/mon-article → 2 variables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40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Debug des routes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840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symfony console debug:router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38404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Liste toutes les routes avec leurs paramètres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Méthodes HTTP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Restreindre l'accès selon le type de requête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Lecture de données. Navigation classique.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73152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562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</a:rPr>
              <a:t>POST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Envoi de données. Formulaires.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73152" cy="54864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420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</a:rPr>
              <a:t>PUT / PATCH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7614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Modification. PUT = total, PATCH = partiel.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73152" cy="54864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546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278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4336"/>
                </a:solidFill>
              </a:rPr>
              <a:t>DELETE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4472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Suppression de ressources.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1097280"/>
            <a:ext cx="4297680" cy="256032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11887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Exemples avec methods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1417320"/>
            <a:ext cx="4023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Uniquement GET (défaut)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#[Route('/contact')]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Uniquement POST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#[Route('/contact', methods: ['POST'])]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et POST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#[Route('/contact', methods: ['GET','POST'])]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contact(Request $request)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($request-&gt;isMethod('POST'))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Traiter le formulaire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374904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Tip: Pour les formulaires, utilisez GET+POST sur la même route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D3D5C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PARTIE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Les Templates Twig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Le moteur de templates de Symfony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Syntaxe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Héritage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Fonctions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Syntaxe Twig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3 types de délimiteurs à connaître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... }}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Afficher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</a:rPr>
              <a:t>Contenu d'une variable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... %}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Exécuter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Logique : if, for, block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... #}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Commenter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Non rendu dans le HTML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68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templates/home/index.html.twig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697480"/>
            <a:ext cx="8138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Ceci est un commentaire Twig #}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&lt;h1&gt;Bienvenue {{ name }}&lt;/h1&gt;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articles is not empty %}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for article in articles %}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&lt;li&gt;{{ article.title }}&lt;/li&gt;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endfor %}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Héritage de templates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Créer un layout réutilisable avec des blocs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templates/base.html.twig (Layout parent)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&lt;title&gt;{% block title %}Mon Site{% endblock %}&lt;/title&gt;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block stylesheets %}{% endblock %}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&lt;nav&gt;...&lt;/nav&gt;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block body %}{% endblock %}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&lt;footer&gt;...&lt;/footer&gt;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block javascripts %}{% endblock %}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1430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templates/home/index.html.twig (Enfant)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'base.html.twig' %}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title %}Accueil{% endblock %}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body %}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&lt;h1&gt;Bienvenue !&lt;/h1&gt;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&lt;p&gt;Contenu de la page&lt;/p&gt;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2926080"/>
            <a:ext cx="73152" cy="9601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926080"/>
            <a:ext cx="3931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3017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Header/footer communs à toutes les pages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CSS/JS chargés une seule fois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Modification centralisée du layout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Filtres Twig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Transformer les données avant affichage avec le pipe |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73152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24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Texte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name|upper }} → JOHN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name|lower }} → john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name|capitalize }} → John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73152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05156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24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3441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date|date('d/m/Y') }} → 15/01/2026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date|date('H:i') }} → 14:30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73152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0312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76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</a:rPr>
              <a:t>Nombres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395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price|number_format(2, ',', ' ')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1 234,56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73152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10312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176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Tableaux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395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items|length }} → nombre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items|first }} → premier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items|join(', ') }} → "a, b, c"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73152" cy="914400"/>
          </a:xfrm>
          <a:prstGeom prst="rect">
            <a:avLst/>
          </a:prstGeom>
          <a:solidFill>
            <a:srgbClr val="82AA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5468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278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AAFF"/>
                </a:solidFill>
              </a:rPr>
              <a:t>Sécurité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4472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html|escape }} → échappé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html|raw }} → HTML brut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154680"/>
            <a:ext cx="3840480" cy="685800"/>
          </a:xfrm>
          <a:prstGeom prst="roundRect">
            <a:avLst>
              <a:gd name="adj" fmla="val 6667"/>
            </a:avLst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278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Chaînage de filtres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4564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text|striptags|upper|slice(0, 50) }}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3657600"/>
            <a:ext cx="3566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CC"/>
                </a:solidFill>
              </a:rPr>
              <a:t>Enlève HTML, majuscules, limite 50 car.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Fonctions Twig Symfony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Fonctions utiles ajoutées par Symfony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73152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24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path()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Génère une URL relative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32004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href="{{ path('app_home') }}"&gt;Accueil&lt;/a&gt;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73152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05156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24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path() avec params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3441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Passer des paramètres à la route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749040" cy="32004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path('app_show', {id: article.id}) }}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73152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0312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76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asset()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39572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Chemin vers fichiers statiques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606040"/>
            <a:ext cx="3749040" cy="32004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href="{{ asset('css/style.css') }}"&gt;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73152" cy="914400"/>
          </a:xfrm>
          <a:prstGeom prst="rect">
            <a:avLst/>
          </a:prstGeom>
          <a:solidFill>
            <a:srgbClr val="82AA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210312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176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2AAFF"/>
                </a:solidFill>
              </a:rPr>
              <a:t>include()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39572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Inclure un template partiel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606040"/>
            <a:ext cx="3749040" cy="32004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include('_partials/card.html.twig') }}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29184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Exemple complet : navigation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5204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href="{{ path('app_home') }}"&gt;Accueil&lt;/a&gt;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href="{{ path('app_about') }}"&gt;À propos&lt;/a&gt;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href="{{ path('app_contact') }}"&gt;Contact&lt;/a&gt;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11887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2D4A7C"/>
          </a:solidFill>
          <a:ln/>
        </p:spPr>
      </p:sp>
      <p:sp>
        <p:nvSpPr>
          <p:cNvPr id="3" name="Text 1"/>
          <p:cNvSpPr/>
          <p:nvPr/>
        </p:nvSpPr>
        <p:spPr>
          <a:xfrm>
            <a:off x="3108960" y="1234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ACFE"/>
                </a:solidFill>
              </a:rPr>
              <a:t>TRAVAUX PRATIQUES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Créer votre page d'accueil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423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Mise en pratique : Controller + Route + Template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301752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333355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94560" y="3474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301752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333355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9040" y="3474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pages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301752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333355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34747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layout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TP : Étapes de réalisation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8229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Créer le Controller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6984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symfony console make:controller HomeController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Ajouter les actions : index(), about(), contact()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5564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Chaque action a sa route : /, /about, /contact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02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Modifier base.html.twig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4144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Ajouter navigation avec path(), structure HTML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260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Créer les 3 templates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2724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home/index.html.twig, about.html.twig, contact.html.twig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118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Tester et vérifier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81304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symfony server:start → http://127.0.0.1:8000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Bonus : Ajouter du CSS via asset() et des variables passées au template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Récapitulatif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Ce que nous avons appris aujourd'hui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974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659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Classe PHP avec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Étend AbstractController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render() pour Twig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make:controller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15087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Routes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6974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9659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Attribut #[Route()]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Path +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Paramètres {slug}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Méthodes GET/POST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15087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Twig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26974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96596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{{ }} {% %} {# #}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Héritage (extends/block)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Filtres (|upper, |date)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• path(), asset()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Prochain cours : Formulaires et base de données avec Doctrine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 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N'hésitez pas à poser vos questions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74320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22224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8346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Commandes essentielles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31546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Nouveau projet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31546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 new projet --webapp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31546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Serveur local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31546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 server:start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36118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Contrôleur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3611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make:controller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36118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Debug routes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3611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debug:router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43891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Documentation : symfony.com/doc · Tutoriels : symfonycasts.com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Symfony - Créer sa première page</dc:title>
  <dc:subject>Controller, Routes, Templates Twig</dc:subject>
  <dc:creator>DEUST</dc:creator>
  <cp:lastModifiedBy>DEUST</cp:lastModifiedBy>
  <cp:revision>1</cp:revision>
  <dcterms:created xsi:type="dcterms:W3CDTF">2026-01-13T16:20:25Z</dcterms:created>
  <dcterms:modified xsi:type="dcterms:W3CDTF">2026-01-13T16:20:25Z</dcterms:modified>
</cp:coreProperties>
</file>