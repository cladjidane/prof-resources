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🛠️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0" y="1737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TP : Créer sa page d'accueil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Symfony + Twig + Tailwind CSS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2834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Controller · Templates · Inclusions · Intégration CSS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47472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33335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6576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⏱️ 45 min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0" y="347472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333355"/>
          </a:solidFill>
          <a:ln/>
        </p:spPr>
      </p:sp>
      <p:sp>
        <p:nvSpPr>
          <p:cNvPr id="9" name="Text 7"/>
          <p:cNvSpPr/>
          <p:nvPr/>
        </p:nvSpPr>
        <p:spPr>
          <a:xfrm>
            <a:off x="3749040" y="36576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🎯 1 page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12080" y="347472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333355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36576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📁 5 fichiers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0" y="4434840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DEUST · Développement web · Janvier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</a:rPr>
              <a:t>Ce que nous allons construire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389120" cy="3200400"/>
          </a:xfrm>
          <a:prstGeom prst="roundRect">
            <a:avLst>
              <a:gd name="adj" fmla="val 2286"/>
            </a:avLst>
          </a:prstGeom>
          <a:solidFill>
            <a:srgbClr val="F8F9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20624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🏠 Logo      Menu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206240" cy="10058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HERO SECTION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CCC"/>
                </a:solidFill>
              </a:rPr>
              <a:t>Titre + CTA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01752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6666"/>
                </a:solidFill>
              </a:rPr>
              <a:t>CONTENT - 3 cards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4206240" cy="3657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749040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FOOTER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Structure des fichiers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128016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1E1E2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1417320"/>
            <a:ext cx="32918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templates/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base.html.twig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_partials/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_header.html.twig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_footer.html.twig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home/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index.html.twig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src/Controller/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HomeController.php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3429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Technologies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0" y="3703320"/>
            <a:ext cx="1097280" cy="411480"/>
          </a:xfrm>
          <a:prstGeom prst="roundRect">
            <a:avLst>
              <a:gd name="adj" fmla="val 11111"/>
            </a:avLst>
          </a:prstGeom>
          <a:solidFill>
            <a:srgbClr val="38BDF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37947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Tailwind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703320"/>
            <a:ext cx="1097280" cy="411480"/>
          </a:xfrm>
          <a:prstGeom prst="roundRect">
            <a:avLst>
              <a:gd name="adj" fmla="val 11111"/>
            </a:avLst>
          </a:prstGeom>
          <a:solidFill>
            <a:srgbClr val="8DC149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37947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Twig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06640" y="3703320"/>
            <a:ext cx="1097280" cy="411480"/>
          </a:xfrm>
          <a:prstGeom prst="roundRect">
            <a:avLst>
              <a:gd name="adj" fmla="val 11111"/>
            </a:avLst>
          </a:prstGeom>
          <a:solidFill>
            <a:srgbClr val="E94560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640" y="37947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Symfony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ÉTAPE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Créer le Controller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32688"/>
            <a:ext cx="8138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4560"/>
                </a:solidFill>
              </a:rPr>
              <a:t>Terminal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115568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symfony console make:controller HomeController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8412480" cy="2606040"/>
          </a:xfrm>
          <a:prstGeom prst="roundRect">
            <a:avLst>
              <a:gd name="adj" fmla="val 2807"/>
            </a:avLst>
          </a:prstGeom>
          <a:solidFill>
            <a:srgbClr val="1E1E2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691640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4560"/>
                </a:solidFill>
              </a:rPr>
              <a:t>src/Controller/HomeController.php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920240"/>
            <a:ext cx="8138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 App\Controller;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Symfony\Bundle\FrameworkBundle\Controller\AbstractController;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Symfony\Component\HttpFoundation\Response;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Symfony\Component\Routing\Attribute\Route;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HomeController extends AbstractController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#[Route('/', name: 'app_home')]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index(): Response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$this-&gt;render('home/index.html.twig', 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'site_name' =&gt; 'MonSite',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4297680"/>
            <a:ext cx="8412480" cy="365760"/>
          </a:xfrm>
          <a:prstGeom prst="roundRect">
            <a:avLst>
              <a:gd name="adj" fmla="val 12500"/>
            </a:avLst>
          </a:prstGeom>
          <a:solidFill>
            <a:srgbClr val="E8F4F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389120"/>
            <a:ext cx="8138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💡 On passe une variable site_name au template via le tableau associatif.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ÉTAPE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Configurer Tailwind (CDN)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Méthode simple pour le développement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3108960"/>
          </a:xfrm>
          <a:prstGeom prst="roundRect">
            <a:avLst>
              <a:gd name="adj" fmla="val 2353"/>
            </a:avLst>
          </a:prstGeom>
          <a:solidFill>
            <a:srgbClr val="1E1E2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97280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4560"/>
                </a:solidFill>
              </a:rPr>
              <a:t>templates/base.html.twig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813816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&lt;meta charset="UTF-8"&gt;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&lt;meta name="viewport" content="width=device-width, initial-scale=1.0"&gt;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&lt;title&gt;{% block title %}Bienvenue{% endblock %}&lt;/title&gt;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{# Tailwind CSS via CDN #}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&lt;script src="https://cdn.tailwindcss.com"&gt;&lt;/script&gt;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{% block stylesheets %}{% endblock %}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 class="min-h-screen flex flex-col"&gt;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{% block body %}{% endblock %}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{% block javascripts %}{% endblock %}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4206240"/>
            <a:ext cx="8412480" cy="457200"/>
          </a:xfrm>
          <a:prstGeom prst="roundRect">
            <a:avLst>
              <a:gd name="adj" fmla="val 10000"/>
            </a:avLst>
          </a:prstGeom>
          <a:solidFill>
            <a:srgbClr val="FFF3CD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315968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⚠️ Le CDN est parfait pour apprendre. En production → Webpack Encore.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ÉTAPE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Créer le Header (partial)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0233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96112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Partial = bout de template réutilisable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Convention : préfixe _ (underscore)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822960"/>
            <a:ext cx="41148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896112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</a:rPr>
              <a:t>Pourquoi 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00600" y="109728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Éviter la répétition · Maintenance facile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08760"/>
            <a:ext cx="8412480" cy="2697480"/>
          </a:xfrm>
          <a:prstGeom prst="roundRect">
            <a:avLst>
              <a:gd name="adj" fmla="val 2712"/>
            </a:avLst>
          </a:prstGeom>
          <a:solidFill>
            <a:srgbClr val="1E1E2E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600200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4560"/>
                </a:solidFill>
              </a:rPr>
              <a:t>templates/_partials/_header.html.twig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1828800"/>
            <a:ext cx="8138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 class="bg-gray-900 text-white"&gt;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&lt;nav class="container mx-auto px-4 py-4 flex justify-between items-center"&gt;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{# Logo #}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 href="{{ path('app_home') }}" class="text-xl font-bold"&gt;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🏠 {{ site_name }}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&lt;/a&gt;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{# Menu #}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&lt;ul class="flex space-x-6"&gt;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&lt;li&gt;&lt;a href="#" class="hover:text-blue-400"&gt;Accueil&lt;/a&gt;&lt;/li&gt;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&lt;li&gt;&lt;a href="#" class="hover:text-blue-400"&gt;Services&lt;/a&gt;&lt;/li&gt;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&lt;li&gt;&lt;a href="#" class="hover:text-blue-400"&gt;Contact&lt;/a&gt;&lt;/li&gt;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&lt;/ul&gt;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&lt;/nav&gt;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&lt;/header&gt;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429768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Classes : bg-gray-900 (fond) · flex justify-between (flexbox) · hover:text-blue-400 (survol)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ÉTAPE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Créer le Footer (partial)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645920"/>
          </a:xfrm>
          <a:prstGeom prst="roundRect">
            <a:avLst>
              <a:gd name="adj" fmla="val 4444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60120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4560"/>
                </a:solidFill>
              </a:rPr>
              <a:t>templates/_partials/_footer.html.twig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8138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 class="bg-gray-800 text-gray-300 mt-auto"&gt;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class="container mx-auto px-4 py-6 text-center"&gt;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&lt;p&gt;&amp;copy; {{ "now"|date("Y") }} {{ site_name }} - Tous droits réservés&lt;/p&gt;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 class="text-sm mt-2"&gt;Fait avec ❤️ et &lt;span class="text-blue-400"&gt;Symfony&lt;/span&gt;&lt;/p&gt;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&lt;/footer&gt;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8F9F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7889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Filtre Twig : date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01752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"now"|date("Y") }}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"now" = date actuelle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|date("Y") = formater en année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Résultat : 2026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269748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8F9FA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27889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Tailwind : mt-auto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301752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mt-auto = margin-top: auto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Pousse le footer en bas de page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grâce à flex-col sur le &lt;body&gt;.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Footer toujours en bas !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ÉTAPE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Section Hero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3383280"/>
          </a:xfrm>
          <a:prstGeom prst="roundRect">
            <a:avLst>
              <a:gd name="adj" fmla="val 2162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14400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4560"/>
                </a:solidFill>
              </a:rPr>
              <a:t>Dans home/index.html.twig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81381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{# Hero Section #}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 class="bg-gradient-to-r from-blue-600 to-purple-600 text-white py-20"&gt;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class="container mx-auto px-4 text-center"&gt;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 class="text-5xl font-bold mb-4"&gt;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Bienvenue sur {{ site_name }}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&lt;/h1&gt;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 class="text-xl mb-8 text-blue-100"&gt;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Découvrez Symfony avec Tailwind CSS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&lt;/p&gt;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 href="#content"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class="bg-white text-blue-600 px-8 py-3 rounded-full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font-semibold hover:bg-blue-100 transition"&gt;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Découvrir →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&lt;/a&gt;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&lt;/section&gt;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429768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bg-gradient-to-r from-blue-600 to-purple-600 = dégradé horizontal bleu → violet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ÉTAPE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Section Content (3 cards)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3429000"/>
          </a:xfrm>
          <a:prstGeom prst="roundRect">
            <a:avLst>
              <a:gd name="adj" fmla="val 2133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68680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4560"/>
                </a:solidFill>
              </a:rPr>
              <a:t>Dans home/index.html.twig (suite)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8138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{# Content Section #}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 id="content" class="py-16 bg-gray-50"&gt;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class="container mx-auto px-4"&gt;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&lt;h2 class="text-3xl font-bold text-center mb-12"&gt;Nos Services&lt;/h2&gt;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class="grid grid-cols-1 md:grid-cols-3 gap-8"&gt;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{# Card 1 #}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&lt;div class="bg-white p-6 rounded-lg shadow-md hover:shadow-xl transition"&gt;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&lt;div class="text-4xl mb-4"&gt;🚀&lt;/div&gt;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&lt;h3 class="text-xl font-semibold mb-2"&gt;Rapide&lt;/h3&gt;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&lt;p class="text-gray-600"&gt;Performance optimisée.&lt;/p&gt;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&lt;/div&gt;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{# Card 2 - même structure avec 🔒 Sécurisé #}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{# Card 3 - même structure avec 💡 Simple #}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&lt;/section&gt;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429768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grid-cols-1 md:grid-cols-3 = 1 colonne mobile, 3 colonnes sur écran moyen+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ÉTAPE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Assembler avec include()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3429000"/>
          </a:xfrm>
          <a:prstGeom prst="roundRect">
            <a:avLst>
              <a:gd name="adj" fmla="val 2133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68680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4560"/>
                </a:solidFill>
              </a:rPr>
              <a:t>templates/home/index.html.twig - Structure complète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8138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extends 'base.html.twig' %}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block title %}Accueil - {{ site_name }}{% endblock %}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block body %}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{# Header - inclusion du partial #}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{{ include('_partials/_header.html.twig') }}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{# Hero Section #}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&lt;section class="bg-gradient-to-r from-blue-600 to-purple-600 ..."&gt;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&lt;/section&gt;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{# Content Section #}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&lt;section id="content" class="py-16 bg-gray-50"&gt;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&lt;/section&gt;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{# Footer - inclusion du partial #}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{{ include('_partials/_footer.html.twig') }}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endblock %}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429768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include() injecte le contenu du partial. Les variables sont automatiquement transmises.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Bonus : Passer des variables aux partials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8F9F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9144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Variables héritées (automatique)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749040" cy="91440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801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include('_partials/_header.html.twig') }}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partial a accès à TOUTES 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 du template parent.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63440" y="82296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4800600" y="9144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460"/>
                </a:solidFill>
              </a:rPr>
              <a:t>Variables explicites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3840480" cy="91440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2801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include('_partials/_card.html.twig',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'title': 'Mon titre',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'icon': '🚀'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 }}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8412480" cy="1737360"/>
          </a:xfrm>
          <a:prstGeom prst="roundRect">
            <a:avLst>
              <a:gd name="adj" fmla="val 4211"/>
            </a:avLst>
          </a:prstGeom>
          <a:solidFill>
            <a:srgbClr val="1E1E2E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468880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4560"/>
                </a:solidFill>
              </a:rPr>
              <a:t>Exemple : _partials/_card.html.twig réutilisable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697480"/>
            <a:ext cx="81381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{# _partials/_card.html.twig #}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class="bg-white p-6 rounded-lg shadow-md"&gt;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class="text-4xl mb-4"&gt;{{ icon }}&lt;/div&gt;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&lt;h3 class="text-xl font-semibold"&gt;{{ title }}&lt;/h3&gt;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 class="text-gray-600"&gt;{{ description|default('') }}&lt;/p&gt;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42062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|default('') = valeur par défaut si la variable n'est pas passée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Lancer et vérifier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60120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4560"/>
                </a:solidFill>
              </a:rPr>
              <a:t>Terminal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37490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Démarrer le serveur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symfony server:start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Ouvrir dans le navigateur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http://127.0.0.1:8000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Debug des routes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symfony console debug:router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Vider le cache si problème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symfony console cache:clear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960120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50"/>
                </a:solidFill>
              </a:rPr>
              <a:t>Checklist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00600" y="1188720"/>
            <a:ext cx="37490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☐ Header avec logo et menu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☐ Hero avec dégradé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☐ 3 cards alignées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☐ Footer en bas de page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☐ Hover fonctionne sur cards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☐ Test responsive (F12 mobile)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22224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97180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🔧 Web Debug Toolbar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2461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En bas de page : temps, requêtes, erreurs Twig. Cliquez pour le Profiler détaillé.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9319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4560"/>
                </a:solidFill>
              </a:rPr>
              <a:t>Si erreur Twig : vérifiez {{ }} {% %} et les noms de fichiers !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Récapitulatif : Structure complète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1E1E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9144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</a:rPr>
              <a:t>Arborescence finale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37490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mon_projet/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Controller/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HomeController.php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templates/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base.html.twig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_partials/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├── _header.html.twig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└── _footer.html.twig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home/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 index.html.twig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8229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Flux de rendu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143000"/>
            <a:ext cx="365760" cy="292608"/>
          </a:xfrm>
          <a:prstGeom prst="roundRect">
            <a:avLst>
              <a:gd name="adj" fmla="val 15625"/>
            </a:avLst>
          </a:prstGeom>
          <a:solidFill>
            <a:srgbClr val="66666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179576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0" y="117957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Requête GET /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554480"/>
            <a:ext cx="365760" cy="292608"/>
          </a:xfrm>
          <a:prstGeom prst="roundRect">
            <a:avLst>
              <a:gd name="adj" fmla="val 15625"/>
            </a:avLst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591056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159105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HomeController::index()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965960"/>
            <a:ext cx="365760" cy="292608"/>
          </a:xfrm>
          <a:prstGeom prst="roundRect">
            <a:avLst>
              <a:gd name="adj" fmla="val 15625"/>
            </a:avLst>
          </a:prstGeom>
          <a:solidFill>
            <a:srgbClr val="0F346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2002536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200253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Charge home/index.html.twig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2377440"/>
            <a:ext cx="365760" cy="292608"/>
          </a:xfrm>
          <a:prstGeom prst="roundRect">
            <a:avLst>
              <a:gd name="adj" fmla="val 15625"/>
            </a:avLst>
          </a:prstGeom>
          <a:solidFill>
            <a:srgbClr val="8DC149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2414016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241401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extends base.html.twig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2788920"/>
            <a:ext cx="365760" cy="292608"/>
          </a:xfrm>
          <a:prstGeom prst="roundRect">
            <a:avLst>
              <a:gd name="adj" fmla="val 15625"/>
            </a:avLst>
          </a:prstGeom>
          <a:solidFill>
            <a:srgbClr val="38BDF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2825496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282549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include() header &amp; footer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3200400"/>
            <a:ext cx="365760" cy="292608"/>
          </a:xfrm>
          <a:prstGeom prst="roundRect">
            <a:avLst>
              <a:gd name="adj" fmla="val 15625"/>
            </a:avLst>
          </a:prstGeom>
          <a:solidFill>
            <a:srgbClr val="4CAF5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3236976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323697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HTML final avec Tailwind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749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Concepts maîtrisés : Controller · Routes · extends · include() · Tailwind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Cheatsheet Twig + Tailwind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731520"/>
            <a:ext cx="4206240" cy="3520440"/>
          </a:xfrm>
          <a:prstGeom prst="roundRect">
            <a:avLst>
              <a:gd name="adj" fmla="val 2078"/>
            </a:avLst>
          </a:prstGeom>
          <a:solidFill>
            <a:srgbClr val="1E1E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8229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DC149"/>
                </a:solidFill>
              </a:rPr>
              <a:t>Twig essentiels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{# Afficher #}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variable }}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objet.propriete }}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{# Condition #}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if condition %}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endif %}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{# Boucle #}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for item in items %}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{{ item }}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endfor %}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{# Héritage #}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extends 'base.html.twig' %}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block nom %}contenu{% endblock %}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{# Inclusion #}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include('fichier.html.twig') }}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include('f.html.twig', {var: val}) }}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{# Filtres #}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text|upper }}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date|date('d/m/Y') }}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663440" y="731520"/>
            <a:ext cx="4206240" cy="3520440"/>
          </a:xfrm>
          <a:prstGeom prst="roundRect">
            <a:avLst>
              <a:gd name="adj" fmla="val 2078"/>
            </a:avLst>
          </a:prstGeom>
          <a:solidFill>
            <a:srgbClr val="1E1E2E"/>
          </a:solidFill>
          <a:ln/>
        </p:spPr>
      </p:sp>
      <p:sp>
        <p:nvSpPr>
          <p:cNvPr id="7" name="Text 5"/>
          <p:cNvSpPr/>
          <p:nvPr/>
        </p:nvSpPr>
        <p:spPr>
          <a:xfrm>
            <a:off x="4800600" y="8229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Tailwind essentiels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00600" y="105156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{# Layout #}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 flex-col justify-between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 mx-auto px-4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{# Spacing #}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p-4 py-6 px-8      (padding)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m-4 mt-auto mb-8   (margin)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{# Typography #}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text-xl font-bold text-center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text-gray-600 text-white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{# Colors #}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bg-gray-900 bg-blue-500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bg-gradient-to-r from-X to-Y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{# Effects #}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rounded-lg shadow-md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hover:shadow-xl transition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{# Responsive #}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md:grid-cols-3    (&gt;= 768px)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C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lg:text-xl        (&gt;= 1024px)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0" y="4389120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Docs : twig.symfony.com · tailwindcss.com/docs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630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Questions 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645920" y="237744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222244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0" y="2468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Ce que vous savez faire maintenant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0" y="278892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✓ Créer un Controller avec une route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✓ Structurer templates avec extends / include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✓ Intégrer Tailwind CSS dans Twig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✓ Créer des partials réutilisables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023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AF50"/>
                </a:solidFill>
              </a:rPr>
              <a:t>Bravo ! Vous avez créé votre première vraie page Symfony 🎉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Symfony TP - Page d'accueil avec Tailwind</dc:title>
  <dc:subject>Controller, Twig, Tailwind CSS, Inclusions</dc:subject>
  <dc:creator>DEUST</dc:creator>
  <cp:lastModifiedBy>DEUST</cp:lastModifiedBy>
  <cp:revision>1</cp:revision>
  <dcterms:created xsi:type="dcterms:W3CDTF">2026-02-11T07:26:04Z</dcterms:created>
  <dcterms:modified xsi:type="dcterms:W3CDTF">2026-02-11T07:26:04Z</dcterms:modified>
</cp:coreProperties>
</file>